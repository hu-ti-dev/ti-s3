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61" r:id="rId5"/>
    <p:sldId id="266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293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3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651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2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2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7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7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5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8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7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‹nr.›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0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hyperlink" Target="https://techvidvan.com/tutorials/cpp-aggregation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1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hyperlink" Target="https://www.youtube.com/watch?v=pDlEvmawN9g" TargetMode="External"/><Relationship Id="rId18" Type="http://schemas.openxmlformats.org/officeDocument/2006/relationships/hyperlink" Target="https://gyansanchay.csjmu.ac.in/wp-content/uploads/2023/02/Aggregation.pdf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s://stackoverflow.com/questions/12222417/why-should-i-initialize-member-variables-in-the-order-theyre-declared-in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hyperlink" Target="https://techvidvan.com/tutorials/cpp-aggregation/" TargetMode="External"/><Relationship Id="rId2" Type="http://schemas.openxmlformats.org/officeDocument/2006/relationships/image" Target="../media/image13.png"/><Relationship Id="rId16" Type="http://schemas.openxmlformats.org/officeDocument/2006/relationships/hyperlink" Target="https://codesignal.com/learn/courses/diving-into-cpp-classes/lessons/classes-composition-in-cpp" TargetMode="External"/><Relationship Id="rId20" Type="http://schemas.openxmlformats.org/officeDocument/2006/relationships/hyperlink" Target="https://www.learncpp.com/cpp-tutorial/aggregation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hyperlink" Target="https://stackoverflow.com/questions/885937/what-is-the-difference-between-association-aggregation-and-composition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s://evolved-cpp.netlify.app/d-object-oriented-programming/04-composition/#association-composition-and-aggregation" TargetMode="External"/><Relationship Id="rId23" Type="http://schemas.openxmlformats.org/officeDocument/2006/relationships/hyperlink" Target="https://medium.com/design-bootcamp/association-composition-and-aggregation-in-c-3ca70336e992" TargetMode="External"/><Relationship Id="rId10" Type="http://schemas.openxmlformats.org/officeDocument/2006/relationships/image" Target="../media/image10.svg"/><Relationship Id="rId19" Type="http://schemas.openxmlformats.org/officeDocument/2006/relationships/hyperlink" Target="https://www.baeldung.com/cs/inheritance-aggregation#:~:text=It%20is%20often%20referred%20to,have%20no%20inherent%20hierarchical%20relationship." TargetMode="External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hyperlink" Target="https://www.adservio.fr/post/composition-vs-inheritance#:~:text=The%20difference%20between%20inheritance%20and,class%2C%20thus%20breaking%20your%20code." TargetMode="External"/><Relationship Id="rId22" Type="http://schemas.openxmlformats.org/officeDocument/2006/relationships/hyperlink" Target="https://www.geeksforgeeks.org/cpp/shallow-copy-and-deep-copy-in-c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0CAD46-2E46-44EB-A063-C0588176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24C88C17-B242-D7AA-7AD7-250132F1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79" b="12421"/>
          <a:stretch>
            <a:fillRect/>
          </a:stretch>
        </p:blipFill>
        <p:spPr>
          <a:xfrm>
            <a:off x="81624" y="-11605"/>
            <a:ext cx="12191980" cy="68579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DFF237-4369-41A3-9CE4-CD1A6813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49553"/>
            <a:ext cx="12191999" cy="532005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7000">
                <a:srgbClr val="000000">
                  <a:alpha val="41000"/>
                </a:srgbClr>
              </a:gs>
              <a:gs pos="81000">
                <a:srgbClr val="000000">
                  <a:alpha val="5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2D99681-D9AD-9470-BFD8-C5E7E0CA4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6091" y="2633933"/>
            <a:ext cx="8039818" cy="1643572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FFFFFF"/>
                </a:solidFill>
              </a:rPr>
              <a:t>Compositie onderzoek</a:t>
            </a:r>
          </a:p>
        </p:txBody>
      </p:sp>
      <p:grpSp>
        <p:nvGrpSpPr>
          <p:cNvPr id="36" name="Group 11">
            <a:extLst>
              <a:ext uri="{FF2B5EF4-FFF2-40B4-BE49-F238E27FC236}">
                <a16:creationId xmlns:a16="http://schemas.microsoft.com/office/drawing/2014/main" id="{C3E45FAB-3768-4529-B0E8-A0E9BE5E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739509"/>
            <a:ext cx="867485" cy="115439"/>
            <a:chOff x="8910933" y="1861308"/>
            <a:chExt cx="867485" cy="115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F68CFF-0675-43D9-8EF2-EAC1F19D2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414FA8-D7DF-4B14-AD83-846AB2899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38B88A0-A01D-4106-8E09-1AEB09B0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183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Afbeelding 48">
            <a:extLst>
              <a:ext uri="{FF2B5EF4-FFF2-40B4-BE49-F238E27FC236}">
                <a16:creationId xmlns:a16="http://schemas.microsoft.com/office/drawing/2014/main" id="{4A0E69DC-47C9-A5E8-BF74-113F1673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2" y="0"/>
            <a:ext cx="12015318" cy="69383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B8099E-9EE5-EE82-A451-3D84C509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206" y="-366973"/>
            <a:ext cx="10134600" cy="1288489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Inhoudsopgave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512D807A-674F-7180-1175-D2EC8D89E883}"/>
              </a:ext>
            </a:extLst>
          </p:cNvPr>
          <p:cNvSpPr txBox="1"/>
          <p:nvPr/>
        </p:nvSpPr>
        <p:spPr>
          <a:xfrm>
            <a:off x="1150539" y="442337"/>
            <a:ext cx="228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Wat is object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?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3224D514-E43E-4C3D-251C-2D176C278AEB}"/>
              </a:ext>
            </a:extLst>
          </p:cNvPr>
          <p:cNvSpPr txBox="1"/>
          <p:nvPr/>
        </p:nvSpPr>
        <p:spPr>
          <a:xfrm>
            <a:off x="1172571" y="3226546"/>
            <a:ext cx="200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Voor en nadelen aggregatie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22966A2A-4C87-F30B-DA7E-350BC184146D}"/>
              </a:ext>
            </a:extLst>
          </p:cNvPr>
          <p:cNvSpPr txBox="1"/>
          <p:nvPr/>
        </p:nvSpPr>
        <p:spPr>
          <a:xfrm>
            <a:off x="1165186" y="4017366"/>
            <a:ext cx="1874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Implementatie voorbeelden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FE19BA25-2674-BED5-C3AE-1BA378612BF4}"/>
              </a:ext>
            </a:extLst>
          </p:cNvPr>
          <p:cNvSpPr txBox="1"/>
          <p:nvPr/>
        </p:nvSpPr>
        <p:spPr>
          <a:xfrm>
            <a:off x="1155402" y="4942321"/>
            <a:ext cx="1750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Waar gaat het vaak fout?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FE57B55A-0857-C478-1133-3B7EB165A4C4}"/>
              </a:ext>
            </a:extLst>
          </p:cNvPr>
          <p:cNvSpPr txBox="1"/>
          <p:nvPr/>
        </p:nvSpPr>
        <p:spPr>
          <a:xfrm>
            <a:off x="1172572" y="5876620"/>
            <a:ext cx="108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Bronnen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4326A135-82AC-2048-12B8-7994433713BA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DD700237-AC2A-210D-8550-507D5399BF82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39E0013C-A323-9CB4-3448-677E788D5D1A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DD72C4AD-CF17-3149-0CB6-633C74E864CE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F9591BF3-3871-95F8-7111-32FA4970FBFF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5955720F-63E2-0166-EF5E-9CE71BB67904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 descr="Vraagteken met effen opvulling">
            <a:extLst>
              <a:ext uri="{FF2B5EF4-FFF2-40B4-BE49-F238E27FC236}">
                <a16:creationId xmlns:a16="http://schemas.microsoft.com/office/drawing/2014/main" id="{E26DF56D-AFB9-D22A-C832-077AB4B4B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8" name="Graphic 7" descr="Klembord met kruizen en vinkjes silhouet">
            <a:extLst>
              <a:ext uri="{FF2B5EF4-FFF2-40B4-BE49-F238E27FC236}">
                <a16:creationId xmlns:a16="http://schemas.microsoft.com/office/drawing/2014/main" id="{AB9B25B4-D94A-CA6E-6C5F-DD2189B15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0" name="Graphic 9" descr="Brainstormen met effen opvulling">
            <a:extLst>
              <a:ext uri="{FF2B5EF4-FFF2-40B4-BE49-F238E27FC236}">
                <a16:creationId xmlns:a16="http://schemas.microsoft.com/office/drawing/2014/main" id="{82F16665-DA51-87F0-FC20-5C9243EBEF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35" name="Graphic 34" descr="Vergrootglas met effen opvulling">
            <a:extLst>
              <a:ext uri="{FF2B5EF4-FFF2-40B4-BE49-F238E27FC236}">
                <a16:creationId xmlns:a16="http://schemas.microsoft.com/office/drawing/2014/main" id="{E602DE34-9F86-E8C7-B7F7-C144936941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43" name="Graphic 42" descr="Computer met effen opvulling">
            <a:extLst>
              <a:ext uri="{FF2B5EF4-FFF2-40B4-BE49-F238E27FC236}">
                <a16:creationId xmlns:a16="http://schemas.microsoft.com/office/drawing/2014/main" id="{0870FC1D-465B-F998-BA57-69638B9FC0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61" name="Rechthoek 60">
            <a:extLst>
              <a:ext uri="{FF2B5EF4-FFF2-40B4-BE49-F238E27FC236}">
                <a16:creationId xmlns:a16="http://schemas.microsoft.com/office/drawing/2014/main" id="{3DDA56BB-7191-5774-8E2B-17252E9A4079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2" name="Ovaal 61">
            <a:extLst>
              <a:ext uri="{FF2B5EF4-FFF2-40B4-BE49-F238E27FC236}">
                <a16:creationId xmlns:a16="http://schemas.microsoft.com/office/drawing/2014/main" id="{C9751518-F662-D7C8-2445-79B86DD29165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3" name="Ovaal 62">
            <a:extLst>
              <a:ext uri="{FF2B5EF4-FFF2-40B4-BE49-F238E27FC236}">
                <a16:creationId xmlns:a16="http://schemas.microsoft.com/office/drawing/2014/main" id="{79071FEF-34F1-968E-DDCF-C58903A2B582}"/>
              </a:ext>
            </a:extLst>
          </p:cNvPr>
          <p:cNvSpPr/>
          <p:nvPr/>
        </p:nvSpPr>
        <p:spPr>
          <a:xfrm>
            <a:off x="37386" y="2995271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A849AA9B-E99A-7944-F736-3E77DE180DA3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5" name="Ovaal 64">
            <a:extLst>
              <a:ext uri="{FF2B5EF4-FFF2-40B4-BE49-F238E27FC236}">
                <a16:creationId xmlns:a16="http://schemas.microsoft.com/office/drawing/2014/main" id="{C1646DE8-8049-6FA3-7C24-884F8DEFC19A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6" name="Ovaal 65">
            <a:extLst>
              <a:ext uri="{FF2B5EF4-FFF2-40B4-BE49-F238E27FC236}">
                <a16:creationId xmlns:a16="http://schemas.microsoft.com/office/drawing/2014/main" id="{B87FC8B0-0974-9E2D-92D1-31E86E25AC65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7" name="Graphic 66" descr="Vraagteken met effen opvulling">
            <a:extLst>
              <a:ext uri="{FF2B5EF4-FFF2-40B4-BE49-F238E27FC236}">
                <a16:creationId xmlns:a16="http://schemas.microsoft.com/office/drawing/2014/main" id="{C4A4BF2C-65FF-120E-5732-426FB39F8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68" name="Graphic 67" descr="Klembord met kruizen en vinkjes silhouet">
            <a:extLst>
              <a:ext uri="{FF2B5EF4-FFF2-40B4-BE49-F238E27FC236}">
                <a16:creationId xmlns:a16="http://schemas.microsoft.com/office/drawing/2014/main" id="{6E2F2190-F9C6-1DEE-569C-69E9C28F97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69" name="Graphic 68" descr="Brainstormen met effen opvulling">
            <a:extLst>
              <a:ext uri="{FF2B5EF4-FFF2-40B4-BE49-F238E27FC236}">
                <a16:creationId xmlns:a16="http://schemas.microsoft.com/office/drawing/2014/main" id="{ECD455E3-06A2-C377-9BDD-71D564CB9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70" name="Graphic 69" descr="Vergrootglas met effen opvulling">
            <a:extLst>
              <a:ext uri="{FF2B5EF4-FFF2-40B4-BE49-F238E27FC236}">
                <a16:creationId xmlns:a16="http://schemas.microsoft.com/office/drawing/2014/main" id="{9096BFBD-6EC5-7039-1CE6-7F31BF07B5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71" name="Graphic 70" descr="Computer met effen opvulling">
            <a:extLst>
              <a:ext uri="{FF2B5EF4-FFF2-40B4-BE49-F238E27FC236}">
                <a16:creationId xmlns:a16="http://schemas.microsoft.com/office/drawing/2014/main" id="{EACC8AE2-C09A-5110-F02B-0C22688504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72" name="Ovaal 71">
            <a:extLst>
              <a:ext uri="{FF2B5EF4-FFF2-40B4-BE49-F238E27FC236}">
                <a16:creationId xmlns:a16="http://schemas.microsoft.com/office/drawing/2014/main" id="{2E9359DE-2D50-C385-7673-A68E83EF9FF6}"/>
              </a:ext>
            </a:extLst>
          </p:cNvPr>
          <p:cNvSpPr/>
          <p:nvPr/>
        </p:nvSpPr>
        <p:spPr>
          <a:xfrm>
            <a:off x="0" y="1914119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73" name="Graphic 72" descr="Klembord met kruizen en vinkjes silhouet">
            <a:extLst>
              <a:ext uri="{FF2B5EF4-FFF2-40B4-BE49-F238E27FC236}">
                <a16:creationId xmlns:a16="http://schemas.microsoft.com/office/drawing/2014/main" id="{CC3A5C6A-6952-516D-824F-0B39D8679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0" y="1922871"/>
            <a:ext cx="826480" cy="851196"/>
          </a:xfrm>
          <a:prstGeom prst="rect">
            <a:avLst/>
          </a:prstGeom>
        </p:spPr>
      </p:pic>
      <p:sp>
        <p:nvSpPr>
          <p:cNvPr id="74" name="Tekstvak 73">
            <a:extLst>
              <a:ext uri="{FF2B5EF4-FFF2-40B4-BE49-F238E27FC236}">
                <a16:creationId xmlns:a16="http://schemas.microsoft.com/office/drawing/2014/main" id="{024CB8FE-ECA1-8A36-973C-18380CE93949}"/>
              </a:ext>
            </a:extLst>
          </p:cNvPr>
          <p:cNvSpPr txBox="1"/>
          <p:nvPr/>
        </p:nvSpPr>
        <p:spPr>
          <a:xfrm>
            <a:off x="1172572" y="2163097"/>
            <a:ext cx="1993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Voor en nadelen Compositie</a:t>
            </a:r>
          </a:p>
        </p:txBody>
      </p:sp>
    </p:spTree>
    <p:extLst>
      <p:ext uri="{BB962C8B-B14F-4D97-AF65-F5344CB8AC3E}">
        <p14:creationId xmlns:p14="http://schemas.microsoft.com/office/powerpoint/2010/main" val="169005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Tijdelijke aanduiding voor inhoud 38">
            <a:extLst>
              <a:ext uri="{FF2B5EF4-FFF2-40B4-BE49-F238E27FC236}">
                <a16:creationId xmlns:a16="http://schemas.microsoft.com/office/drawing/2014/main" id="{9DD4426D-4B1B-11AE-9A2C-947A13C3B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7" y="-73660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B325670-E43D-9F22-19DD-D4EBA2A5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788" y="-279944"/>
            <a:ext cx="11507428" cy="1288489"/>
          </a:xfrm>
        </p:spPr>
        <p:txBody>
          <a:bodyPr>
            <a:normAutofit/>
          </a:bodyPr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Wat is object compositie en </a:t>
            </a:r>
            <a:r>
              <a:rPr lang="nl-NL" sz="4000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aggregratie</a:t>
            </a:r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? 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BC244E35-CD32-45CA-0145-DD04E0F77FA8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4" name="Ovaal 23">
            <a:extLst>
              <a:ext uri="{FF2B5EF4-FFF2-40B4-BE49-F238E27FC236}">
                <a16:creationId xmlns:a16="http://schemas.microsoft.com/office/drawing/2014/main" id="{116647BE-4370-864F-11F9-DECB3FE40AFE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7" name="Ovaal 26">
            <a:extLst>
              <a:ext uri="{FF2B5EF4-FFF2-40B4-BE49-F238E27FC236}">
                <a16:creationId xmlns:a16="http://schemas.microsoft.com/office/drawing/2014/main" id="{36299D64-C832-F3C8-8EF7-73B67A0EC6DB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FEBAC69F-D1C8-02AB-094E-C448CBF82984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7C56166D-DA8A-5A06-F4AC-B9164F4042DD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F5E72D1D-7B5D-BFB6-B234-5F6BFD2177BA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31" name="Graphic 30" descr="Vraagteken met effen opvulling">
            <a:extLst>
              <a:ext uri="{FF2B5EF4-FFF2-40B4-BE49-F238E27FC236}">
                <a16:creationId xmlns:a16="http://schemas.microsoft.com/office/drawing/2014/main" id="{74088013-4CBF-B610-ED53-0FEE6353B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79620"/>
            <a:ext cx="705897" cy="727007"/>
          </a:xfrm>
          <a:prstGeom prst="rect">
            <a:avLst/>
          </a:prstGeom>
        </p:spPr>
      </p:pic>
      <p:pic>
        <p:nvPicPr>
          <p:cNvPr id="32" name="Graphic 31" descr="Klembord met kruizen en vinkjes silhouet">
            <a:extLst>
              <a:ext uri="{FF2B5EF4-FFF2-40B4-BE49-F238E27FC236}">
                <a16:creationId xmlns:a16="http://schemas.microsoft.com/office/drawing/2014/main" id="{8F663A9A-9575-03BC-11C8-AF555C1F7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33" name="Graphic 32" descr="Brainstormen met effen opvulling">
            <a:extLst>
              <a:ext uri="{FF2B5EF4-FFF2-40B4-BE49-F238E27FC236}">
                <a16:creationId xmlns:a16="http://schemas.microsoft.com/office/drawing/2014/main" id="{FCC4D3F8-A5FE-5EB6-51EA-5076EBDF90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35" name="Graphic 34" descr="Vergrootglas met effen opvulling">
            <a:extLst>
              <a:ext uri="{FF2B5EF4-FFF2-40B4-BE49-F238E27FC236}">
                <a16:creationId xmlns:a16="http://schemas.microsoft.com/office/drawing/2014/main" id="{6E942015-7B7A-C31C-F94C-2B619725E2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37" name="Graphic 36" descr="Computer met effen opvulling">
            <a:extLst>
              <a:ext uri="{FF2B5EF4-FFF2-40B4-BE49-F238E27FC236}">
                <a16:creationId xmlns:a16="http://schemas.microsoft.com/office/drawing/2014/main" id="{2D2AF9F2-01C2-28EC-1315-4959FEBD86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40" name="Tekstvak 39">
            <a:extLst>
              <a:ext uri="{FF2B5EF4-FFF2-40B4-BE49-F238E27FC236}">
                <a16:creationId xmlns:a16="http://schemas.microsoft.com/office/drawing/2014/main" id="{2371170E-DD79-D5E7-AB48-7A1EB99C6E9C}"/>
              </a:ext>
            </a:extLst>
          </p:cNvPr>
          <p:cNvSpPr txBox="1"/>
          <p:nvPr/>
        </p:nvSpPr>
        <p:spPr>
          <a:xfrm>
            <a:off x="1248697" y="1131001"/>
            <a:ext cx="3873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- Klassen opgebouwd uit objecten van andere klassen</a:t>
            </a:r>
          </a:p>
          <a:p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‘Has a’ relatie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Gebruikt in grote projecten</a:t>
            </a:r>
            <a:endParaRPr lang="nl-NL" dirty="0"/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C3E64798-9B5B-0A25-B143-10D39C2B8B78}"/>
              </a:ext>
            </a:extLst>
          </p:cNvPr>
          <p:cNvSpPr txBox="1"/>
          <p:nvPr/>
        </p:nvSpPr>
        <p:spPr>
          <a:xfrm>
            <a:off x="1248697" y="3157357"/>
            <a:ext cx="57322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dirty="0">
                <a:solidFill>
                  <a:schemeClr val="bg1"/>
                </a:solidFill>
              </a:rPr>
              <a:t> 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Is wanneer een klasse is samengesteld uit objecten van andere klassen, maar de hoofdklasse is niet de eigenaar van de member variables</a:t>
            </a:r>
          </a:p>
          <a:p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Member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variable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onafhankelijk van hoofdklasse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Pointers/ referenties naar member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variable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" name="Ovaal 41">
            <a:extLst>
              <a:ext uri="{FF2B5EF4-FFF2-40B4-BE49-F238E27FC236}">
                <a16:creationId xmlns:a16="http://schemas.microsoft.com/office/drawing/2014/main" id="{AAE542EA-4639-FBDB-605B-015144E0BAEA}"/>
              </a:ext>
            </a:extLst>
          </p:cNvPr>
          <p:cNvSpPr/>
          <p:nvPr/>
        </p:nvSpPr>
        <p:spPr>
          <a:xfrm>
            <a:off x="38104" y="1969692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43" name="Graphic 42" descr="Klembord met kruizen en vinkjes silhouet">
            <a:extLst>
              <a:ext uri="{FF2B5EF4-FFF2-40B4-BE49-F238E27FC236}">
                <a16:creationId xmlns:a16="http://schemas.microsoft.com/office/drawing/2014/main" id="{5307B641-D586-195A-099A-8E468CC76D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0" y="1955505"/>
            <a:ext cx="826480" cy="8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2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ijdelijke aanduiding voor inhoud 38">
            <a:extLst>
              <a:ext uri="{FF2B5EF4-FFF2-40B4-BE49-F238E27FC236}">
                <a16:creationId xmlns:a16="http://schemas.microsoft.com/office/drawing/2014/main" id="{E449C886-390F-14F5-0AF8-DB8D5C833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7" y="-7914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4AEFD53-04AF-C1D5-3105-475A540C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365" y="293385"/>
            <a:ext cx="10134600" cy="1288489"/>
          </a:xfrm>
        </p:spPr>
        <p:txBody>
          <a:bodyPr/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Voor en nadelen</a:t>
            </a:r>
            <a:br>
              <a:rPr lang="nl-NL" dirty="0"/>
            </a:b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5EFC8F4-4823-1FCA-29F8-C38BE904A589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B93862BC-6019-BE9E-3673-B453741F1A05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B2F8D4FF-D800-53E9-B6C6-D681E197B3D0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6078FC0-D2A6-5AC0-64A4-CBC9F739EF52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9B7F26E3-0A98-EA1A-CA4B-183AAE8CC5D7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717E6B30-C488-B16A-7563-BA589485E306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Graphic 11" descr="Vraagteken met effen opvulling">
            <a:extLst>
              <a:ext uri="{FF2B5EF4-FFF2-40B4-BE49-F238E27FC236}">
                <a16:creationId xmlns:a16="http://schemas.microsoft.com/office/drawing/2014/main" id="{EE2E562C-F18E-06CA-C14F-93FA45CF2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13" name="Graphic 12" descr="Klembord met kruizen en vinkjes silhouet">
            <a:extLst>
              <a:ext uri="{FF2B5EF4-FFF2-40B4-BE49-F238E27FC236}">
                <a16:creationId xmlns:a16="http://schemas.microsoft.com/office/drawing/2014/main" id="{7C54A66B-F2E3-CB28-61D5-1BAF761A8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4" name="Graphic 13" descr="Brainstormen met effen opvulling">
            <a:extLst>
              <a:ext uri="{FF2B5EF4-FFF2-40B4-BE49-F238E27FC236}">
                <a16:creationId xmlns:a16="http://schemas.microsoft.com/office/drawing/2014/main" id="{5DED2852-732B-CCBC-C3EC-171E786BD9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16" name="Graphic 15" descr="Vergrootglas met effen opvulling">
            <a:extLst>
              <a:ext uri="{FF2B5EF4-FFF2-40B4-BE49-F238E27FC236}">
                <a16:creationId xmlns:a16="http://schemas.microsoft.com/office/drawing/2014/main" id="{1033B7C5-464C-7C01-76C5-F10C4F4713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18" name="Graphic 17" descr="Computer met effen opvulling">
            <a:extLst>
              <a:ext uri="{FF2B5EF4-FFF2-40B4-BE49-F238E27FC236}">
                <a16:creationId xmlns:a16="http://schemas.microsoft.com/office/drawing/2014/main" id="{E3E93C0A-30D8-C9CD-4237-ADFF2B80DD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20" name="Tekstvak 19">
            <a:extLst>
              <a:ext uri="{FF2B5EF4-FFF2-40B4-BE49-F238E27FC236}">
                <a16:creationId xmlns:a16="http://schemas.microsoft.com/office/drawing/2014/main" id="{F0F88D68-3E7F-9CC0-E228-FF300AD1BBC1}"/>
              </a:ext>
            </a:extLst>
          </p:cNvPr>
          <p:cNvSpPr txBox="1"/>
          <p:nvPr/>
        </p:nvSpPr>
        <p:spPr>
          <a:xfrm>
            <a:off x="1273740" y="989965"/>
            <a:ext cx="3559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Compositie is flexibeler dan overerving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 Minder complexiteit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 Een losser verband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 Een eenvoudigere en betere keuze dan overerving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DD211B19-DC39-A644-C44E-F46BF0FCF255}"/>
              </a:ext>
            </a:extLst>
          </p:cNvPr>
          <p:cNvSpPr txBox="1"/>
          <p:nvPr/>
        </p:nvSpPr>
        <p:spPr>
          <a:xfrm>
            <a:off x="1455174" y="3954486"/>
            <a:ext cx="27825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Verkeerd worden gebruikt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verschillende levenscyclus en relaties kan uitdagend zijn</a:t>
            </a:r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A7C16361-4622-7FB1-E08A-A92C75F7365E}"/>
              </a:ext>
            </a:extLst>
          </p:cNvPr>
          <p:cNvSpPr/>
          <p:nvPr/>
        </p:nvSpPr>
        <p:spPr>
          <a:xfrm>
            <a:off x="42230" y="2033854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3" name="Graphic 22" descr="Klembord met kruizen en vinkjes silhouet">
            <a:extLst>
              <a:ext uri="{FF2B5EF4-FFF2-40B4-BE49-F238E27FC236}">
                <a16:creationId xmlns:a16="http://schemas.microsoft.com/office/drawing/2014/main" id="{52618A0A-9812-0C39-78DD-33C1AB5979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66" y="2019667"/>
            <a:ext cx="826480" cy="8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B212-7C43-F1E4-0C29-3926FB52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ijdelijke aanduiding voor inhoud 38">
            <a:extLst>
              <a:ext uri="{FF2B5EF4-FFF2-40B4-BE49-F238E27FC236}">
                <a16:creationId xmlns:a16="http://schemas.microsoft.com/office/drawing/2014/main" id="{54195905-EB7E-2522-595A-568ED003D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7" y="-7914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E6D4B77-8596-13FB-6084-D89B7A70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365" y="293385"/>
            <a:ext cx="10134600" cy="1288489"/>
          </a:xfrm>
        </p:spPr>
        <p:txBody>
          <a:bodyPr/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Voor en nadelen aggregatie</a:t>
            </a:r>
            <a:br>
              <a:rPr lang="nl-NL" dirty="0"/>
            </a:b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22DBC839-0F65-256E-78C9-F16D0E47A7C6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B8C0F254-B906-DA98-319B-B3D9F90472FA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01CEF140-67DC-12B9-BEAA-5294EEB9F70C}"/>
              </a:ext>
            </a:extLst>
          </p:cNvPr>
          <p:cNvSpPr/>
          <p:nvPr/>
        </p:nvSpPr>
        <p:spPr>
          <a:xfrm>
            <a:off x="37386" y="2995271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7D411C86-A749-5EF4-AD1B-AFFC400ECB53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CE4FA0DD-3730-F55C-1231-3D0B9898AF02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4BD39D9A-F8AD-DCD1-8C67-49337570072F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Graphic 11" descr="Vraagteken met effen opvulling">
            <a:extLst>
              <a:ext uri="{FF2B5EF4-FFF2-40B4-BE49-F238E27FC236}">
                <a16:creationId xmlns:a16="http://schemas.microsoft.com/office/drawing/2014/main" id="{A7D5085D-72DF-A8B6-8B49-AD8144362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13" name="Graphic 12" descr="Klembord met kruizen en vinkjes silhouet">
            <a:extLst>
              <a:ext uri="{FF2B5EF4-FFF2-40B4-BE49-F238E27FC236}">
                <a16:creationId xmlns:a16="http://schemas.microsoft.com/office/drawing/2014/main" id="{2E6F70BE-49DD-F470-C769-FAC73EB86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4" name="Graphic 13" descr="Brainstormen met effen opvulling">
            <a:extLst>
              <a:ext uri="{FF2B5EF4-FFF2-40B4-BE49-F238E27FC236}">
                <a16:creationId xmlns:a16="http://schemas.microsoft.com/office/drawing/2014/main" id="{DE635132-F30C-B656-D6ED-7EA9B18955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16" name="Graphic 15" descr="Vergrootglas met effen opvulling">
            <a:extLst>
              <a:ext uri="{FF2B5EF4-FFF2-40B4-BE49-F238E27FC236}">
                <a16:creationId xmlns:a16="http://schemas.microsoft.com/office/drawing/2014/main" id="{4BC3C847-80FF-E7D5-D998-9048150B46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18" name="Graphic 17" descr="Computer met effen opvulling">
            <a:extLst>
              <a:ext uri="{FF2B5EF4-FFF2-40B4-BE49-F238E27FC236}">
                <a16:creationId xmlns:a16="http://schemas.microsoft.com/office/drawing/2014/main" id="{26156BE6-47E7-A8AB-6A58-F5BCB37DFB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3" name="Ovaal 2">
            <a:extLst>
              <a:ext uri="{FF2B5EF4-FFF2-40B4-BE49-F238E27FC236}">
                <a16:creationId xmlns:a16="http://schemas.microsoft.com/office/drawing/2014/main" id="{53A8E79E-97DA-9F5D-5DB6-217D753CC8B9}"/>
              </a:ext>
            </a:extLst>
          </p:cNvPr>
          <p:cNvSpPr/>
          <p:nvPr/>
        </p:nvSpPr>
        <p:spPr>
          <a:xfrm>
            <a:off x="74527" y="2044192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7" name="Graphic 6" descr="Klembord met kruizen en vinkjes silhouet">
            <a:extLst>
              <a:ext uri="{FF2B5EF4-FFF2-40B4-BE49-F238E27FC236}">
                <a16:creationId xmlns:a16="http://schemas.microsoft.com/office/drawing/2014/main" id="{1EB9916E-E578-1003-C5B0-794909F897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47" y="2052944"/>
            <a:ext cx="826480" cy="851196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E04D70FE-FC85-D4EF-8A09-0F96474378F7}"/>
              </a:ext>
            </a:extLst>
          </p:cNvPr>
          <p:cNvSpPr txBox="1"/>
          <p:nvPr/>
        </p:nvSpPr>
        <p:spPr>
          <a:xfrm>
            <a:off x="1907458" y="1376516"/>
            <a:ext cx="3814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Herbruikbare code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Flexibiliteit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Modelleren van complexere systemen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0DC16881-763D-7499-031D-FB52B6EA9D85}"/>
              </a:ext>
            </a:extLst>
          </p:cNvPr>
          <p:cNvSpPr txBox="1"/>
          <p:nvPr/>
        </p:nvSpPr>
        <p:spPr>
          <a:xfrm>
            <a:off x="1995948" y="3588774"/>
            <a:ext cx="27038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Complexiteit verhogen van structuren van het systeem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chemeClr val="bg1"/>
                </a:solidFill>
              </a:rPr>
              <a:t> 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Bouwt geen hiërarchisch verband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Onnodige koppelingen tussen klassen</a:t>
            </a:r>
          </a:p>
        </p:txBody>
      </p:sp>
    </p:spTree>
    <p:extLst>
      <p:ext uri="{BB962C8B-B14F-4D97-AF65-F5344CB8AC3E}">
        <p14:creationId xmlns:p14="http://schemas.microsoft.com/office/powerpoint/2010/main" val="2346225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ijdelijke aanduiding voor inhoud 38">
            <a:extLst>
              <a:ext uri="{FF2B5EF4-FFF2-40B4-BE49-F238E27FC236}">
                <a16:creationId xmlns:a16="http://schemas.microsoft.com/office/drawing/2014/main" id="{8D98C956-2057-456D-3FDA-BCC8C9651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7" y="-7914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D18989C-3183-AB9C-B5F9-1A6C6EDD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397" y="345720"/>
            <a:ext cx="10134600" cy="1288489"/>
          </a:xfrm>
        </p:spPr>
        <p:txBody>
          <a:bodyPr/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Implementatievoorbeelden</a:t>
            </a:r>
            <a:br>
              <a:rPr lang="nl-NL" dirty="0"/>
            </a:b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870C94C5-6E57-C10C-D01A-77C228C50C52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D2D89DD9-1213-C140-3C88-5A1B666BA600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6591EC72-F6E6-4E87-52F9-064D9D8B66BE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5490B994-A41F-9C13-34CA-078F7CB5F763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39FAD5C0-B0BA-F7CB-5BB5-E44DCDCE97FC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EDB37921-169F-C4AC-35F6-01D37DF2C81B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Graphic 11" descr="Vraagteken met effen opvulling">
            <a:extLst>
              <a:ext uri="{FF2B5EF4-FFF2-40B4-BE49-F238E27FC236}">
                <a16:creationId xmlns:a16="http://schemas.microsoft.com/office/drawing/2014/main" id="{E02CC0A6-4A2E-AC1C-882A-675D85CA9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13" name="Graphic 12" descr="Klembord met kruizen en vinkjes silhouet">
            <a:extLst>
              <a:ext uri="{FF2B5EF4-FFF2-40B4-BE49-F238E27FC236}">
                <a16:creationId xmlns:a16="http://schemas.microsoft.com/office/drawing/2014/main" id="{86121860-8525-6500-0A56-8A9734C9B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4" name="Graphic 13" descr="Brainstormen met effen opvulling">
            <a:extLst>
              <a:ext uri="{FF2B5EF4-FFF2-40B4-BE49-F238E27FC236}">
                <a16:creationId xmlns:a16="http://schemas.microsoft.com/office/drawing/2014/main" id="{0AC9D92F-D993-F369-FF8D-6967C8FDB3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16" name="Graphic 15" descr="Vergrootglas met effen opvulling">
            <a:extLst>
              <a:ext uri="{FF2B5EF4-FFF2-40B4-BE49-F238E27FC236}">
                <a16:creationId xmlns:a16="http://schemas.microsoft.com/office/drawing/2014/main" id="{B4A530C7-4453-59FF-C3FE-E81707CE5C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18" name="Graphic 17" descr="Computer met effen opvulling">
            <a:extLst>
              <a:ext uri="{FF2B5EF4-FFF2-40B4-BE49-F238E27FC236}">
                <a16:creationId xmlns:a16="http://schemas.microsoft.com/office/drawing/2014/main" id="{9CBB8377-77C0-802B-4C30-7F4FA3801F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7A62EE3F-2F54-F0A8-D099-5059D062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797720"/>
            <a:ext cx="7074373" cy="24052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Implementatie voorbeelden. </a:t>
            </a:r>
            <a:endParaRPr kumimoji="0" lang="nl-NL" altLang="nl-NL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Composition</a:t>
            </a: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voorbeeld1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nl-NL" altLang="nl-NL" sz="28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nl-NL" altLang="nl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Voorbeeld2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nl-NL" altLang="nl-NL" sz="25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nl-NL" altLang="nl-NL" sz="2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nl-NL" altLang="nl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Aggregatie:  </a:t>
            </a:r>
            <a:r>
              <a:rPr kumimoji="0" lang="nl-NL" altLang="nl-NL" sz="34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100" b="0" i="0" u="sng" strike="noStrike" cap="none" normalizeH="0" baseline="0" dirty="0" err="1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Aggregratie</a:t>
            </a:r>
            <a:r>
              <a:rPr kumimoji="0" lang="nl-NL" altLang="nl-NL" sz="1100" b="0" i="0" u="sng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 code</a:t>
            </a:r>
            <a:endParaRPr kumimoji="0" lang="nl-NL" altLang="nl-N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nl-NL" altLang="nl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72B2979-D77B-8755-F387-BF6AB0D34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11185525"/>
            <a:ext cx="59436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D28B4B04-1212-F9CE-5DC5-0B894F2D5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794" y="1429061"/>
            <a:ext cx="4379600" cy="292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39B054F-85BF-AEAB-827C-B7658C145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296" y="1247574"/>
            <a:ext cx="4076067" cy="250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>
            <a:extLst>
              <a:ext uri="{FF2B5EF4-FFF2-40B4-BE49-F238E27FC236}">
                <a16:creationId xmlns:a16="http://schemas.microsoft.com/office/drawing/2014/main" id="{3186F7D6-0A10-D526-7001-49ADBE1B4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070" y="4119989"/>
            <a:ext cx="2913473" cy="266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al 20">
            <a:extLst>
              <a:ext uri="{FF2B5EF4-FFF2-40B4-BE49-F238E27FC236}">
                <a16:creationId xmlns:a16="http://schemas.microsoft.com/office/drawing/2014/main" id="{DD051E1D-FC04-E33C-EBE4-D5083114EF0F}"/>
              </a:ext>
            </a:extLst>
          </p:cNvPr>
          <p:cNvSpPr/>
          <p:nvPr/>
        </p:nvSpPr>
        <p:spPr>
          <a:xfrm>
            <a:off x="51291" y="2028794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22" name="Graphic 21" descr="Klembord met kruizen en vinkjes silhouet">
            <a:extLst>
              <a:ext uri="{FF2B5EF4-FFF2-40B4-BE49-F238E27FC236}">
                <a16:creationId xmlns:a16="http://schemas.microsoft.com/office/drawing/2014/main" id="{00777039-0DCE-B152-1930-3549D4ED3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11" y="2037546"/>
            <a:ext cx="826480" cy="8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3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ijdelijke aanduiding voor inhoud 38">
            <a:extLst>
              <a:ext uri="{FF2B5EF4-FFF2-40B4-BE49-F238E27FC236}">
                <a16:creationId xmlns:a16="http://schemas.microsoft.com/office/drawing/2014/main" id="{B6337654-A0D8-E089-387E-F9255B394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7" y="-7914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411DF4B-EF41-9D81-971A-A1A8678D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287" y="199485"/>
            <a:ext cx="10134600" cy="1288489"/>
          </a:xfrm>
        </p:spPr>
        <p:txBody>
          <a:bodyPr/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Waar gaat het vaak fout?</a:t>
            </a:r>
            <a:br>
              <a:rPr lang="nl-NL" dirty="0"/>
            </a:b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B223922-19C2-2513-1609-EF54E5DF0E75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66B7B86A-1EB4-136B-86DB-FB8D9BD7D9D1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7E019626-C427-149E-896B-39E73C32B4FF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286CC179-5B85-3624-421D-9B3F2936ED67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1A4EB071-E53D-A37D-4B3B-085BC73015F8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6B3742B8-90E1-416C-74D4-188544223976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Graphic 11" descr="Vraagteken met effen opvulling">
            <a:extLst>
              <a:ext uri="{FF2B5EF4-FFF2-40B4-BE49-F238E27FC236}">
                <a16:creationId xmlns:a16="http://schemas.microsoft.com/office/drawing/2014/main" id="{5ADDC27A-15BD-9ECC-715C-11EB997B7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13" name="Graphic 12" descr="Klembord met kruizen en vinkjes silhouet">
            <a:extLst>
              <a:ext uri="{FF2B5EF4-FFF2-40B4-BE49-F238E27FC236}">
                <a16:creationId xmlns:a16="http://schemas.microsoft.com/office/drawing/2014/main" id="{3DC942D1-2B39-A7D6-B135-BD58F2350B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4" name="Graphic 13" descr="Brainstormen met effen opvulling">
            <a:extLst>
              <a:ext uri="{FF2B5EF4-FFF2-40B4-BE49-F238E27FC236}">
                <a16:creationId xmlns:a16="http://schemas.microsoft.com/office/drawing/2014/main" id="{3489CA9E-917A-77F0-9C86-9F6189BE09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16" name="Graphic 15" descr="Vergrootglas met effen opvulling">
            <a:extLst>
              <a:ext uri="{FF2B5EF4-FFF2-40B4-BE49-F238E27FC236}">
                <a16:creationId xmlns:a16="http://schemas.microsoft.com/office/drawing/2014/main" id="{990CEFDD-D070-E89C-2B4F-EF5B8B8E04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18" name="Graphic 17" descr="Computer met effen opvulling">
            <a:extLst>
              <a:ext uri="{FF2B5EF4-FFF2-40B4-BE49-F238E27FC236}">
                <a16:creationId xmlns:a16="http://schemas.microsoft.com/office/drawing/2014/main" id="{76384DD2-86E5-A6D7-AE91-6126632445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20" name="Ovaal 19">
            <a:extLst>
              <a:ext uri="{FF2B5EF4-FFF2-40B4-BE49-F238E27FC236}">
                <a16:creationId xmlns:a16="http://schemas.microsoft.com/office/drawing/2014/main" id="{AB04CEEE-FB40-A9C7-64B7-0D83F16AD360}"/>
              </a:ext>
            </a:extLst>
          </p:cNvPr>
          <p:cNvSpPr/>
          <p:nvPr/>
        </p:nvSpPr>
        <p:spPr>
          <a:xfrm>
            <a:off x="51291" y="20769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1" name="Graphic 20" descr="Klembord met kruizen en vinkjes silhouet">
            <a:extLst>
              <a:ext uri="{FF2B5EF4-FFF2-40B4-BE49-F238E27FC236}">
                <a16:creationId xmlns:a16="http://schemas.microsoft.com/office/drawing/2014/main" id="{B367EE77-33FD-B6B8-0928-3E218E8DC2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2062798"/>
            <a:ext cx="826480" cy="851196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608AFD53-C407-EABD-1F62-00629201C4A0}"/>
              </a:ext>
            </a:extLst>
          </p:cNvPr>
          <p:cNvSpPr txBox="1"/>
          <p:nvPr/>
        </p:nvSpPr>
        <p:spPr>
          <a:xfrm>
            <a:off x="1671484" y="1317523"/>
            <a:ext cx="46014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Vaak pointers en referenties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Object verwijderd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Pointers verwijzen nergens meer naar  Geen eigenaarschap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Meerdere keren verwijderd of aangepast 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Kans dat object niet opgeruimd wordt</a:t>
            </a:r>
          </a:p>
          <a:p>
            <a:pPr marL="285750" indent="-285750">
              <a:buFontTx/>
              <a:buChar char="-"/>
            </a:pP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marL="285750" indent="-285750">
              <a:buFontTx/>
              <a:buChar char="-"/>
            </a:pP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Memory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leak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als gevolg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93FD94E3-E348-C86D-0BB9-BDE30FEBFC24}"/>
              </a:ext>
            </a:extLst>
          </p:cNvPr>
          <p:cNvSpPr txBox="1"/>
          <p:nvPr/>
        </p:nvSpPr>
        <p:spPr>
          <a:xfrm>
            <a:off x="7481453" y="1248970"/>
            <a:ext cx="42180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Volgorde is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belangrijkAls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de volgorde verkeerd in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initializer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wordt gezet wordt het overgeschreven.,</a:t>
            </a: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,</a:t>
            </a:r>
          </a:p>
          <a:p>
            <a:pPr fontAlgn="base"/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Errors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en onverwacht gedrag als gevolg,</a:t>
            </a: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Als het originele object wordt verwijderd worden pointers en</a:t>
            </a: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</a:b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referenties ook verwijderd Dit zorgt voor error, crashes of memory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leaks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8982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ijdelijke aanduiding voor inhoud 38">
            <a:extLst>
              <a:ext uri="{FF2B5EF4-FFF2-40B4-BE49-F238E27FC236}">
                <a16:creationId xmlns:a16="http://schemas.microsoft.com/office/drawing/2014/main" id="{70DE06A1-7D21-B858-D9C3-AAD0ACB1E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212" y="-73660"/>
            <a:ext cx="12192000" cy="70660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2687F11-F2CA-C9D4-DD9C-07F3D59F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938" y="199485"/>
            <a:ext cx="10134600" cy="1288489"/>
          </a:xfrm>
        </p:spPr>
        <p:txBody>
          <a:bodyPr/>
          <a:lstStyle/>
          <a:p>
            <a:r>
              <a:rPr lang="nl-NL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Bronnen</a:t>
            </a:r>
            <a:br>
              <a:rPr lang="nl-NL" dirty="0"/>
            </a:br>
            <a:endParaRPr lang="nl-NL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AB7AE32F-C802-C4AD-8AA0-FA1DDD4698D3}"/>
              </a:ext>
            </a:extLst>
          </p:cNvPr>
          <p:cNvSpPr/>
          <p:nvPr/>
        </p:nvSpPr>
        <p:spPr>
          <a:xfrm>
            <a:off x="0" y="0"/>
            <a:ext cx="988505" cy="6858000"/>
          </a:xfrm>
          <a:prstGeom prst="rect">
            <a:avLst/>
          </a:prstGeom>
          <a:solidFill>
            <a:srgbClr val="0070C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5FFD95CC-812C-2F92-136D-F1AE8C6D362E}"/>
              </a:ext>
            </a:extLst>
          </p:cNvPr>
          <p:cNvSpPr/>
          <p:nvPr/>
        </p:nvSpPr>
        <p:spPr>
          <a:xfrm>
            <a:off x="51291" y="199485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C0302230-D76A-8055-6531-EE6B13DBE35C}"/>
              </a:ext>
            </a:extLst>
          </p:cNvPr>
          <p:cNvSpPr/>
          <p:nvPr/>
        </p:nvSpPr>
        <p:spPr>
          <a:xfrm>
            <a:off x="51291" y="301573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CF3D5C90-0DCB-C870-0086-59199ECD8525}"/>
              </a:ext>
            </a:extLst>
          </p:cNvPr>
          <p:cNvSpPr/>
          <p:nvPr/>
        </p:nvSpPr>
        <p:spPr>
          <a:xfrm>
            <a:off x="44808" y="3954486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0E0184C3-2363-463C-E077-7B0A281E9456}"/>
              </a:ext>
            </a:extLst>
          </p:cNvPr>
          <p:cNvSpPr/>
          <p:nvPr/>
        </p:nvSpPr>
        <p:spPr>
          <a:xfrm>
            <a:off x="38104" y="4893237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0BDD3D0-EF98-4AB0-1354-25E29B51C0D6}"/>
              </a:ext>
            </a:extLst>
          </p:cNvPr>
          <p:cNvSpPr/>
          <p:nvPr/>
        </p:nvSpPr>
        <p:spPr>
          <a:xfrm>
            <a:off x="44807" y="5826143"/>
            <a:ext cx="885921" cy="8872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Graphic 11" descr="Vraagteken met effen opvulling">
            <a:extLst>
              <a:ext uri="{FF2B5EF4-FFF2-40B4-BE49-F238E27FC236}">
                <a16:creationId xmlns:a16="http://schemas.microsoft.com/office/drawing/2014/main" id="{59651697-3F84-C5EF-A68D-D57C5ABE7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15" y="262958"/>
            <a:ext cx="705897" cy="727007"/>
          </a:xfrm>
          <a:prstGeom prst="rect">
            <a:avLst/>
          </a:prstGeom>
        </p:spPr>
      </p:pic>
      <p:pic>
        <p:nvPicPr>
          <p:cNvPr id="13" name="Graphic 12" descr="Klembord met kruizen en vinkjes silhouet">
            <a:extLst>
              <a:ext uri="{FF2B5EF4-FFF2-40B4-BE49-F238E27FC236}">
                <a16:creationId xmlns:a16="http://schemas.microsoft.com/office/drawing/2014/main" id="{C41B44E9-5583-F2E0-7749-2D15639DCD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7" y="3001549"/>
            <a:ext cx="826480" cy="851196"/>
          </a:xfrm>
          <a:prstGeom prst="rect">
            <a:avLst/>
          </a:prstGeom>
        </p:spPr>
      </p:pic>
      <p:pic>
        <p:nvPicPr>
          <p:cNvPr id="14" name="Graphic 13" descr="Brainstormen met effen opvulling">
            <a:extLst>
              <a:ext uri="{FF2B5EF4-FFF2-40B4-BE49-F238E27FC236}">
                <a16:creationId xmlns:a16="http://schemas.microsoft.com/office/drawing/2014/main" id="{7C41CBAE-0F17-367D-D6E2-005492DEEA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01" y="4893237"/>
            <a:ext cx="914400" cy="941745"/>
          </a:xfrm>
          <a:prstGeom prst="rect">
            <a:avLst/>
          </a:prstGeom>
        </p:spPr>
      </p:pic>
      <p:pic>
        <p:nvPicPr>
          <p:cNvPr id="16" name="Graphic 15" descr="Vergrootglas met effen opvulling">
            <a:extLst>
              <a:ext uri="{FF2B5EF4-FFF2-40B4-BE49-F238E27FC236}">
                <a16:creationId xmlns:a16="http://schemas.microsoft.com/office/drawing/2014/main" id="{D42E64F8-6F57-D93C-0A03-B6181E1224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88" y="5870147"/>
            <a:ext cx="735824" cy="757829"/>
          </a:xfrm>
          <a:prstGeom prst="rect">
            <a:avLst/>
          </a:prstGeom>
        </p:spPr>
      </p:pic>
      <p:pic>
        <p:nvPicPr>
          <p:cNvPr id="18" name="Graphic 17" descr="Computer met effen opvulling">
            <a:extLst>
              <a:ext uri="{FF2B5EF4-FFF2-40B4-BE49-F238E27FC236}">
                <a16:creationId xmlns:a16="http://schemas.microsoft.com/office/drawing/2014/main" id="{D1076224-696C-F816-352A-FDA8BE2858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7135" y="4072758"/>
            <a:ext cx="663678" cy="683525"/>
          </a:xfrm>
          <a:prstGeom prst="rect">
            <a:avLst/>
          </a:prstGeom>
        </p:spPr>
      </p:pic>
      <p:sp>
        <p:nvSpPr>
          <p:cNvPr id="20" name="Ovaal 19">
            <a:extLst>
              <a:ext uri="{FF2B5EF4-FFF2-40B4-BE49-F238E27FC236}">
                <a16:creationId xmlns:a16="http://schemas.microsoft.com/office/drawing/2014/main" id="{10E2D45F-CA3A-7B68-3A8C-37FE7E17C728}"/>
              </a:ext>
            </a:extLst>
          </p:cNvPr>
          <p:cNvSpPr/>
          <p:nvPr/>
        </p:nvSpPr>
        <p:spPr>
          <a:xfrm>
            <a:off x="79980" y="2028794"/>
            <a:ext cx="885921" cy="8872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1" name="Graphic 20" descr="Klembord met kruizen en vinkjes silhouet">
            <a:extLst>
              <a:ext uri="{FF2B5EF4-FFF2-40B4-BE49-F238E27FC236}">
                <a16:creationId xmlns:a16="http://schemas.microsoft.com/office/drawing/2014/main" id="{AE544606-8BB0-7F02-2BB7-A4206F1EC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16" y="2014607"/>
            <a:ext cx="826480" cy="851196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107970FE-2A28-841B-6660-DBA184406B47}"/>
              </a:ext>
            </a:extLst>
          </p:cNvPr>
          <p:cNvSpPr txBox="1"/>
          <p:nvPr/>
        </p:nvSpPr>
        <p:spPr>
          <a:xfrm>
            <a:off x="1347309" y="284002"/>
            <a:ext cx="53582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Covers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and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Agregation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- </a:t>
            </a:r>
            <a:r>
              <a:rPr lang="nl-NL" b="1" u="sng" dirty="0" err="1">
                <a:solidFill>
                  <a:srgbClr val="837585"/>
                </a:solidFill>
                <a:latin typeface="Palatino Linotype" panose="0204050205050503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Composition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C++ Tutorial (Part 36)</a:t>
            </a: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</a:b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vs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inheritance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- </a:t>
            </a:r>
            <a:r>
              <a:rPr lang="nl-NL" b="1" u="sng" dirty="0">
                <a:solidFill>
                  <a:srgbClr val="837585"/>
                </a:solidFill>
                <a:latin typeface="Palatino Linotype" panose="0204050205050503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|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Evolved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- 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voorbeeld - </a:t>
            </a:r>
            <a:r>
              <a:rPr lang="nl-NL" b="1" u="sng" dirty="0" err="1">
                <a:solidFill>
                  <a:srgbClr val="837585"/>
                </a:solidFill>
                <a:latin typeface="Palatino Linotype" panose="0204050205050503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Composition</a:t>
            </a:r>
            <a:r>
              <a:rPr lang="nl-NL" b="1" u="sng" dirty="0">
                <a:solidFill>
                  <a:srgbClr val="837585"/>
                </a:solidFill>
                <a:latin typeface="Palatino Linotype" panose="0204050205050503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code</a:t>
            </a: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Aggregatie voorbeeld : </a:t>
            </a:r>
            <a:r>
              <a:rPr lang="nl-NL" b="1" u="sng" dirty="0" err="1">
                <a:solidFill>
                  <a:srgbClr val="837585"/>
                </a:solidFill>
                <a:latin typeface="Palatino Linotype" panose="0204050205050503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Aggregratie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code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Aggregatie definitie/voordelen: 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Aggregatie definitie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2B901749-7180-9D87-68B8-ADFFE5F0FFFF}"/>
              </a:ext>
            </a:extLst>
          </p:cNvPr>
          <p:cNvSpPr txBox="1"/>
          <p:nvPr/>
        </p:nvSpPr>
        <p:spPr>
          <a:xfrm>
            <a:off x="8091653" y="631674"/>
            <a:ext cx="39722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Aggregatie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vs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Inheritance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(voordelen/nadelen): </a:t>
            </a:r>
            <a:r>
              <a:rPr lang="nl-NL" b="1" u="sng" dirty="0">
                <a:solidFill>
                  <a:srgbClr val="837585"/>
                </a:solidFill>
                <a:latin typeface="Palatino Linotype" panose="0204050205050503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Aggregatie </a:t>
            </a:r>
            <a:r>
              <a:rPr lang="nl-NL" b="1" u="sng" dirty="0" err="1">
                <a:solidFill>
                  <a:srgbClr val="837585"/>
                </a:solidFill>
                <a:latin typeface="Palatino Linotype" panose="0204050205050503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</a:t>
            </a:r>
            <a:r>
              <a:rPr lang="nl-NL" b="1" u="sng" dirty="0">
                <a:solidFill>
                  <a:srgbClr val="837585"/>
                </a:solidFill>
                <a:latin typeface="Palatino Linotype" panose="0204050205050503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nl-NL" b="1" u="sng" dirty="0" err="1">
                <a:solidFill>
                  <a:schemeClr val="bg1"/>
                </a:solidFill>
                <a:latin typeface="Palatino Linotype" panose="0204050205050503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Inheritance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Waarschuwingen over het gebruik van aggregatie: 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Foutmelding met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composite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: 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Shallow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copy (compositie): 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pPr fontAlgn="base"/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(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What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is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aggregation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and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compensation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br>
              <a:rPr lang="nl-NL" b="1" dirty="0">
                <a:solidFill>
                  <a:schemeClr val="bg1"/>
                </a:solidFill>
                <a:effectLst/>
                <a:latin typeface="Palatino Linotype" panose="02040502050505030304" pitchFamily="18" charset="0"/>
              </a:rPr>
            </a:b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Stack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difference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between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aggregation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and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composition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(</a:t>
            </a:r>
            <a:r>
              <a:rPr lang="nl-NL" b="1" u="sng" dirty="0">
                <a:solidFill>
                  <a:schemeClr val="bg1"/>
                </a:solidFill>
                <a:latin typeface="Palatino Linotype" panose="02040502050505030304" pitchFamily="18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674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0AEA63D-20A8-0F1B-1A3C-8B98FAF7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84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F68C5F2-E621-3C8B-1032-E8A08E1B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  <a:latin typeface="Palatino Linotype" panose="02040502050505030304" pitchFamily="18" charset="0"/>
              </a:rPr>
              <a:t>Einde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31CDE1-3AE6-459A-5B34-FB1924D9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Schrijvers: Emma, Amira, Erin,  Jente &amp; Maud</a:t>
            </a:r>
          </a:p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Onderzoekers: Vigo, Luuk,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Alea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, Jorn, Nathaniël, Laurens &amp;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Ying</a:t>
            </a:r>
            <a:endParaRPr lang="nl-NL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  <a:p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Github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: Tess, Sarah, Ryan, </a:t>
            </a:r>
            <a:r>
              <a:rPr lang="nl-NL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Joni</a:t>
            </a:r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&amp; Ruben</a:t>
            </a:r>
          </a:p>
          <a:p>
            <a:r>
              <a:rPr lang="nl-NL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Presentatoren: Emma, Jente, Maud &amp; Luuk</a:t>
            </a:r>
          </a:p>
        </p:txBody>
      </p:sp>
    </p:spTree>
    <p:extLst>
      <p:ext uri="{BB962C8B-B14F-4D97-AF65-F5344CB8AC3E}">
        <p14:creationId xmlns:p14="http://schemas.microsoft.com/office/powerpoint/2010/main" val="409097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8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5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5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8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5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8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5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417</Words>
  <Application>Microsoft Office PowerPoint</Application>
  <PresentationFormat>Breedbeeld</PresentationFormat>
  <Paragraphs>96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Arial</vt:lpstr>
      <vt:lpstr>Bembo</vt:lpstr>
      <vt:lpstr>Palatino Linotype</vt:lpstr>
      <vt:lpstr>AdornVTI</vt:lpstr>
      <vt:lpstr>Compositie onderzoek</vt:lpstr>
      <vt:lpstr>Inhoudsopgave</vt:lpstr>
      <vt:lpstr>Wat is object compositie en aggregratie? </vt:lpstr>
      <vt:lpstr>Voor en nadelen </vt:lpstr>
      <vt:lpstr>Voor en nadelen aggregatie </vt:lpstr>
      <vt:lpstr>Implementatievoorbeelden </vt:lpstr>
      <vt:lpstr>Waar gaat het vaak fout? </vt:lpstr>
      <vt:lpstr>Bronnen 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amira rezaian</dc:creator>
  <cp:lastModifiedBy>amira rezaian</cp:lastModifiedBy>
  <cp:revision>3</cp:revision>
  <dcterms:created xsi:type="dcterms:W3CDTF">2025-11-05T12:39:28Z</dcterms:created>
  <dcterms:modified xsi:type="dcterms:W3CDTF">2025-11-05T15:03:15Z</dcterms:modified>
</cp:coreProperties>
</file>